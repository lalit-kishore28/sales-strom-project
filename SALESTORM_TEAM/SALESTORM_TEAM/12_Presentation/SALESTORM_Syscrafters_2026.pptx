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storm: one click wave, one tiny stock pool. Preview the funnel that turns raw traffic into a controlled 100-pass admission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promises from targets. The guarantees are invariants; the targets set the latency, availability, throughput and recovery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Edge and gateway tame traffic; Redis and Postgres are the stock authorities; Kafka and idempotent consumers carry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reservation path as four coordinated steps: authenticate and deduplicate, atomically decrement, persist conditionally, then release stale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three payment outcomes and their exact compensations. Every uncertain state has a query, replay or refund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provider specifics sit behind an interface. The adapters, resilience decorator and state transitions keep the module open for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scale headroom, explicit failure drills and the consistency trade-offs accepted to keep the buy path fast and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56032"/>
            <a:ext cx="4572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1F33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510528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7C6D4"/>
                </a:solidFill>
                <a:latin typeface="Calibri"/>
              </a:rPr>
              <a:t>SALESTORM | SYSCRAFTERS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37376"/>
            <a:ext cx="11640312" cy="13716"/>
          </a:xfrm>
          <a:prstGeom prst="rect">
            <a:avLst/>
          </a:prstGeom>
          <a:solidFill>
            <a:srgbClr val="0F7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38328"/>
            <a:ext cx="54864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"/>
            <a:ext cx="10835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SALESTORM — Flash-sale architecture:
10,000 buyers, 100 units, zero oversell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3456432" cy="1115568"/>
          </a:xfrm>
          <a:prstGeom prst="roundRect">
            <a:avLst>
              <a:gd name="adj" fmla="val 10000"/>
            </a:avLst>
          </a:prstGeom>
          <a:solidFill>
            <a:srgbClr val="122D47"/>
          </a:solidFill>
          <a:ln w="12700">
            <a:solidFill>
              <a:srgbClr val="1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36192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417320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Thousands click Buy Now
at the same instant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234440"/>
            <a:ext cx="3456432" cy="1115568"/>
          </a:xfrm>
          <a:prstGeom prst="roundRect">
            <a:avLst>
              <a:gd name="adj" fmla="val 10000"/>
            </a:avLst>
          </a:prstGeom>
          <a:solidFill>
            <a:srgbClr val="122D47"/>
          </a:solidFill>
          <a:ln w="12700">
            <a:solidFill>
              <a:srgbClr val="1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536192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417320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Never oversell, double-charge
or lose a paid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234440"/>
            <a:ext cx="3456432" cy="1115568"/>
          </a:xfrm>
          <a:prstGeom prst="roundRect">
            <a:avLst>
              <a:gd name="adj" fmla="val 10000"/>
            </a:avLst>
          </a:prstGeom>
          <a:solidFill>
            <a:srgbClr val="122D47"/>
          </a:solidFill>
          <a:ln w="12700">
            <a:solidFill>
              <a:srgbClr val="1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53619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B1F33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1417320"/>
            <a:ext cx="2651760" cy="7132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Gateway and services will be
slow or fail at peak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88336"/>
            <a:ext cx="411480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B8A6"/>
                </a:solidFill>
                <a:latin typeface="Calibri"/>
              </a:rPr>
              <a:t>TRAFFIC CONTROL FUNNEL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63240"/>
            <a:ext cx="2423160" cy="1078992"/>
          </a:xfrm>
          <a:prstGeom prst="roundRect">
            <a:avLst>
              <a:gd name="adj" fmla="val 12000"/>
            </a:avLst>
          </a:prstGeom>
          <a:solidFill>
            <a:srgbClr val="1A3A59"/>
          </a:solidFill>
          <a:ln w="1651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227832"/>
            <a:ext cx="24231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500k rps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3611880"/>
            <a:ext cx="2276856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8E6F0"/>
                </a:solidFill>
                <a:latin typeface="Calibri"/>
              </a:rPr>
              <a:t>edge (CDN/WAF)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8104" y="3447288"/>
            <a:ext cx="374903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9584" y="3063240"/>
            <a:ext cx="2148840" cy="1078992"/>
          </a:xfrm>
          <a:prstGeom prst="roundRect">
            <a:avLst>
              <a:gd name="adj" fmla="val 12000"/>
            </a:avLst>
          </a:prstGeom>
          <a:solidFill>
            <a:srgbClr val="122D47"/>
          </a:solidFill>
          <a:ln w="165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3227832"/>
            <a:ext cx="21488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611880"/>
            <a:ext cx="2002536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8E6F0"/>
                </a:solidFill>
                <a:latin typeface="Calibri"/>
              </a:rPr>
              <a:t>Buy calls at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447288"/>
            <a:ext cx="374904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063240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1A3A59"/>
          </a:solidFill>
          <a:ln w="1651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227832"/>
            <a:ext cx="1874519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3611880"/>
            <a:ext cx="1728216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8E6F0"/>
                </a:solidFill>
                <a:latin typeface="Calibri"/>
              </a:rPr>
              <a:t>pass the stock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5" y="3447288"/>
            <a:ext cx="374904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3063240"/>
            <a:ext cx="1627632" cy="1078992"/>
          </a:xfrm>
          <a:prstGeom prst="roundRect">
            <a:avLst>
              <a:gd name="adj" fmla="val 12000"/>
            </a:avLst>
          </a:prstGeom>
          <a:solidFill>
            <a:srgbClr val="143A55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3227832"/>
            <a:ext cx="1627632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~95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611880"/>
            <a:ext cx="148132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D8E6F0"/>
                </a:solidFill>
                <a:latin typeface="Calibri"/>
              </a:rPr>
              <a:t>confirmed orders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709160"/>
            <a:ext cx="10881360" cy="987552"/>
          </a:xfrm>
          <a:prstGeom prst="roundRect">
            <a:avLst/>
          </a:prstGeom>
          <a:solidFill>
            <a:srgbClr val="122D47"/>
          </a:solidFill>
          <a:ln w="12700">
            <a:solidFill>
              <a:srgbClr val="1A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937760"/>
            <a:ext cx="10241280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C9D8E5"/>
                </a:solidFill>
                <a:latin typeface="Calibri"/>
              </a:rPr>
              <a:t>The core challenge: </a:t>
            </a:r>
            <a:r>
              <a:rPr sz="1600" b="1">
                <a:solidFill>
                  <a:srgbClr val="FFFFFF"/>
                </a:solidFill>
                <a:latin typeface="Calibri"/>
              </a:rPr>
              <a:t>turn a burst into exactly 100 reservations — </a:t>
            </a:r>
            <a:r>
              <a:rPr sz="1600" b="1">
                <a:solidFill>
                  <a:srgbClr val="14B8A6"/>
                </a:solidFill>
                <a:latin typeface="Calibri"/>
              </a:rPr>
              <a:t>without duplicate payment or lost 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56032"/>
            <a:ext cx="457200" cy="2743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510528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D6B7A"/>
                </a:solidFill>
                <a:latin typeface="Calibri"/>
              </a:rPr>
              <a:t>SALESTORM | SYSCRAFTERS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37376"/>
            <a:ext cx="11640312" cy="137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38328"/>
            <a:ext cx="54864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"/>
            <a:ext cx="10835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1F33"/>
                </a:solidFill>
                <a:latin typeface="Calibri"/>
              </a:rPr>
              <a:t>REQUIREMENTS — Guarantees before throughput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170432"/>
            <a:ext cx="5230368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170432"/>
            <a:ext cx="5230368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481328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444752"/>
            <a:ext cx="3977639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8F1D1D"/>
                </a:solidFill>
                <a:latin typeface="Calibri"/>
              </a:rPr>
              <a:t>Strict guarantees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681728" cy="2331720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sold + reserved never exceeds 100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One payment and one order per reservation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Every captured payment ends in an order or a refund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No card data stored (tokenised)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170432"/>
            <a:ext cx="537667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170432"/>
            <a:ext cx="5376672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19088" y="1481328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444752"/>
            <a:ext cx="40690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7F75"/>
                </a:solidFill>
                <a:latin typeface="Calibri"/>
              </a:rPr>
              <a:t>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4846320" cy="2331720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Reserve p99 under 300 ms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99.9% buy-path availability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10k rps normal, 500k rps edge peak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• </a:t>
            </a:r>
            <a:r>
              <a:rPr sz="1500" b="0">
                <a:solidFill>
                  <a:srgbClr val="182B3D"/>
                </a:solidFill>
                <a:latin typeface="Calibri"/>
              </a:rPr>
              <a:t>RPO 0, RTO under 5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64608"/>
            <a:ext cx="10863072" cy="107899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10912"/>
            <a:ext cx="15087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B8A6"/>
                </a:solidFill>
                <a:latin typeface="Calibri"/>
              </a:rPr>
              <a:t>ASSUMPTIONS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946904"/>
            <a:ext cx="8942832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 unit per customer  |  reservation TTL 5 min  |  95% pay success  |  2% duplicates  |  gateway supports idempotency keys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56032"/>
            <a:ext cx="457200" cy="2743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510528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D6B7A"/>
                </a:solidFill>
                <a:latin typeface="Calibri"/>
              </a:rPr>
              <a:t>SALESTORM | SYSCRAFTERS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37376"/>
            <a:ext cx="11640312" cy="137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38328"/>
            <a:ext cx="54864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"/>
            <a:ext cx="10835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1F33"/>
                </a:solidFill>
                <a:latin typeface="Calibri"/>
              </a:rPr>
              <a:t>HIGH-LEVEL ARCHITECTURE — Edge, authority, async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80160"/>
            <a:ext cx="1417320" cy="80467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 w="1524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53312"/>
            <a:ext cx="1344168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CDN/WAF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1" y="1527048"/>
            <a:ext cx="292607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D6B7A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280160"/>
            <a:ext cx="1481328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8296" y="1353312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0B1F33"/>
                </a:solidFill>
                <a:latin typeface="Calibri"/>
              </a:rPr>
              <a:t>Waiting
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527048"/>
            <a:ext cx="292607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D6B7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7096" y="1280160"/>
            <a:ext cx="1591056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1353312"/>
            <a:ext cx="1517904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0B1F33"/>
                </a:solidFill>
                <a:latin typeface="Calibri"/>
              </a:rPr>
              <a:t>API
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1527048"/>
            <a:ext cx="292607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D6B7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80160"/>
            <a:ext cx="2212848" cy="80467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353312"/>
            <a:ext cx="2139696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Reservation + Redis
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527048"/>
            <a:ext cx="292607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D6B7A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69096" y="1280160"/>
            <a:ext cx="1243584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2" y="1353312"/>
            <a:ext cx="1170432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0B1F33"/>
                </a:solidFill>
                <a:latin typeface="Calibri"/>
              </a:rPr>
              <a:t>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1527048"/>
            <a:ext cx="34747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D6B7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51592" y="1280160"/>
            <a:ext cx="1170432" cy="80467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 w="1524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88167" y="135331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Kafka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2633472"/>
            <a:ext cx="3419856" cy="3419856"/>
          </a:xfrm>
          <a:prstGeom prst="roundRect">
            <a:avLst>
              <a:gd name="adj" fmla="val 8000"/>
            </a:avLst>
          </a:prstGeom>
          <a:solidFill>
            <a:srgbClr val="E6FAF7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2633472"/>
            <a:ext cx="3419856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" y="2916936"/>
            <a:ext cx="402336" cy="40233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2871216"/>
            <a:ext cx="24231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F75"/>
                </a:solidFill>
                <a:latin typeface="Calibri"/>
              </a:rPr>
              <a:t>ADMISSION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456432"/>
            <a:ext cx="2907792" cy="2084831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Rate limit, bot filter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Sold-out flag at edge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Redis Lua: at most 100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87952" y="2633472"/>
            <a:ext cx="3419856" cy="3419856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87952" y="2633472"/>
            <a:ext cx="3419856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25696" y="2916936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2871216"/>
            <a:ext cx="24231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46B08"/>
                </a:solidFill>
                <a:latin typeface="Calibri"/>
              </a:rPr>
              <a:t>AUTHORITY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3456432"/>
            <a:ext cx="2907792" cy="2084831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Postgres conditional UPDATE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CHECK: no negative stock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Database per 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45552" y="2633472"/>
            <a:ext cx="3419856" cy="3419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45552" y="2633472"/>
            <a:ext cx="3419856" cy="82296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83296" y="2916936"/>
            <a:ext cx="402336" cy="40233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2871216"/>
            <a:ext cx="24231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3"/>
                </a:solidFill>
                <a:latin typeface="Calibri"/>
              </a:rPr>
              <a:t>ASYNC DOWNSTREAM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456432"/>
            <a:ext cx="2907792" cy="2084831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B1F33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Outbox to Kafka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B1F33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Order, shipment, notification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>
                <a:solidFill>
                  <a:srgbClr val="0B1F33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Idempotent consumers, DLQ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" y="5596128"/>
            <a:ext cx="10716768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715000"/>
            <a:ext cx="102870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F33"/>
                </a:solidFill>
                <a:latin typeface="Calibri"/>
              </a:rPr>
              <a:t>Separation of concerns: </a:t>
            </a:r>
            <a:r>
              <a:rPr sz="1400" b="0">
                <a:solidFill>
                  <a:srgbClr val="5D6B7A"/>
                </a:solidFill>
                <a:latin typeface="Calibri"/>
              </a:rPr>
              <a:t>admit fast, decide atomically, then let asynchronous services catch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56032"/>
            <a:ext cx="457200" cy="2743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510528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D6B7A"/>
                </a:solidFill>
                <a:latin typeface="Calibri"/>
              </a:rPr>
              <a:t>SALESTORM | SYSCRAFTERS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37376"/>
            <a:ext cx="11640312" cy="137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38328"/>
            <a:ext cx="54864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"/>
            <a:ext cx="10835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1F33"/>
                </a:solidFill>
                <a:latin typeface="Calibri"/>
              </a:rPr>
              <a:t>CRITICAL DESIGN — 10,000 vs 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188720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188720"/>
            <a:ext cx="5413248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1444752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399032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Calibri"/>
              </a:rPr>
              <a:t>Edge +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975104"/>
            <a:ext cx="4754880" cy="1024128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JWT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rate limit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Idempotency-Key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sold-out 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188720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1188720"/>
            <a:ext cx="5413248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1444752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399032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Calibri"/>
              </a:rPr>
              <a:t>Redis Lua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975104"/>
            <a:ext cx="4754880" cy="1024128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atomic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duplicate returns original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stock &gt; 0 then DECR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3438144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" y="3438144"/>
            <a:ext cx="5413248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369417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4845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Calibri"/>
              </a:rPr>
              <a:t>Postgres 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224528"/>
            <a:ext cx="4754880" cy="1024128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UPDATE where available &gt;= 1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insert reservation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outbox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438144"/>
            <a:ext cx="5413248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912" y="3438144"/>
            <a:ext cx="5413248" cy="82296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9944" y="3694176"/>
            <a:ext cx="512064" cy="512064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64845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3"/>
                </a:solidFill>
                <a:latin typeface="Calibri"/>
              </a:rPr>
              <a:t>Expiry worker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224528"/>
            <a:ext cx="4754880" cy="1024128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0B1F33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unpaid holds released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0B1F33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stock reopens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1956816"/>
            <a:ext cx="228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5D6B7A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187952"/>
            <a:ext cx="228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5D6B7A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5650992"/>
            <a:ext cx="3291840" cy="548640"/>
          </a:xfrm>
          <a:prstGeom prst="roundRect">
            <a:avLst/>
          </a:prstGeom>
          <a:solidFill>
            <a:srgbClr val="EBFAF1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733288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6D34"/>
                </a:solidFill>
                <a:latin typeface="Calibri"/>
              </a:rPr>
              <a:t>100 → 201 Reserved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41063" y="5650992"/>
            <a:ext cx="3291840" cy="548640"/>
          </a:xfrm>
          <a:prstGeom prst="roundRect">
            <a:avLst/>
          </a:prstGeom>
          <a:solidFill>
            <a:srgbClr val="FEF0F0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3" y="5733288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8F1D1D"/>
                </a:solidFill>
                <a:latin typeface="Calibri"/>
              </a:rPr>
              <a:t>9,900 → 409 SOLD_OUT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51775" y="5650992"/>
            <a:ext cx="3922776" cy="54864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5733288"/>
            <a:ext cx="3739896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3"/>
                </a:solidFill>
                <a:latin typeface="Calibri"/>
              </a:rPr>
              <a:t>0 oversold units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56032"/>
            <a:ext cx="457200" cy="2743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510528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D6B7A"/>
                </a:solidFill>
                <a:latin typeface="Calibri"/>
              </a:rPr>
              <a:t>SALESTORM | SYSCRAFTERS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37376"/>
            <a:ext cx="11640312" cy="137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38328"/>
            <a:ext cx="54864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"/>
            <a:ext cx="10835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1F33"/>
                </a:solidFill>
                <a:latin typeface="Calibri"/>
              </a:rPr>
              <a:t>PAYMENT AND ORDER RELIABILITY — Every state ends cleanly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07008"/>
            <a:ext cx="3429000" cy="4828032"/>
          </a:xfrm>
          <a:prstGeom prst="roundRect">
            <a:avLst>
              <a:gd name="adj" fmla="val 8000"/>
            </a:avLst>
          </a:prstGeom>
          <a:solidFill>
            <a:srgbClr val="EBFAF1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207008"/>
            <a:ext cx="342900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1527048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481328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E6D34"/>
                </a:solidFill>
                <a:latin typeface="Calibri"/>
              </a:rPr>
              <a:t>Payment succeeds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40280"/>
            <a:ext cx="2907792" cy="3438144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16A34A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Outbox: PaymentSucceeded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16A34A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Order created, UNIQUE payment_id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16A34A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Reservation CONFIRMED then SOLD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16A34A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Customer notified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1207008"/>
            <a:ext cx="3429000" cy="4828032"/>
          </a:xfrm>
          <a:prstGeom prst="roundRect">
            <a:avLst>
              <a:gd name="adj" fmla="val 8000"/>
            </a:avLst>
          </a:prstGeom>
          <a:solidFill>
            <a:srgbClr val="FEF0F0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8" y="1207008"/>
            <a:ext cx="34290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6552" y="1527048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481328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F1D1D"/>
                </a:solidFill>
                <a:latin typeface="Calibri"/>
              </a:rPr>
              <a:t>Payment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240280"/>
            <a:ext cx="2907792" cy="3438144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DC2626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PaymentFailed event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DC2626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Reservation RELEASED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DC2626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Stock returns, sold-out flag cleared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DC2626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Waiting buyers can take the unit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27264" y="1207008"/>
            <a:ext cx="3429000" cy="4828032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1207008"/>
            <a:ext cx="3429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65008" y="1527048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1481328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6B08"/>
                </a:solidFill>
                <a:latin typeface="Calibri"/>
              </a:rPr>
              <a:t>Timeout / Order 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240280"/>
            <a:ext cx="2907792" cy="3438144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F59E0B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Timeout: UNKNOWN, status query with SAME key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F59E0B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Order Service down 30 s: Kafka retains events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F59E0B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DLQ + reconciler replay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30" b="1">
                <a:solidFill>
                  <a:srgbClr val="F59E0B"/>
                </a:solidFill>
                <a:latin typeface="Calibri"/>
              </a:rPr>
              <a:t>• </a:t>
            </a:r>
            <a:r>
              <a:rPr sz="1430" b="0">
                <a:solidFill>
                  <a:srgbClr val="182B3D"/>
                </a:solidFill>
                <a:latin typeface="Calibri"/>
              </a:rPr>
              <a:t>Late payment after expiry: auto refund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56032"/>
            <a:ext cx="457200" cy="2743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510528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D6B7A"/>
                </a:solidFill>
                <a:latin typeface="Calibri"/>
              </a:rPr>
              <a:t>SALESTORM | SYSCRAFTERS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37376"/>
            <a:ext cx="11640312" cy="137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38328"/>
            <a:ext cx="54864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"/>
            <a:ext cx="10835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1F33"/>
                </a:solidFill>
                <a:latin typeface="Calibri"/>
              </a:rPr>
              <a:t>LLD, SOLID AND PATTERNS — Payment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07008"/>
            <a:ext cx="6729984" cy="3767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207008"/>
            <a:ext cx="6729984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389888"/>
            <a:ext cx="320040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F75"/>
                </a:solidFill>
                <a:latin typeface="Calibri"/>
              </a:rPr>
              <a:t>CLASS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" y="1856231"/>
            <a:ext cx="1901952" cy="822960"/>
          </a:xfrm>
          <a:prstGeom prst="roundRect">
            <a:avLst/>
          </a:prstGeom>
          <a:solidFill>
            <a:srgbClr val="E6FAF7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84248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3"/>
                </a:solidFill>
                <a:latin typeface="Calibri"/>
              </a:rPr>
              <a:t>PaymentService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9776" y="2267712"/>
            <a:ext cx="713232" cy="0"/>
          </a:xfrm>
          <a:prstGeom prst="line">
            <a:avLst/>
          </a:prstGeom>
          <a:ln w="25400">
            <a:solidFill>
              <a:srgbClr val="0F7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11296" y="1737360"/>
            <a:ext cx="2066543" cy="106070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856231"/>
            <a:ext cx="1883664" cy="4114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F33"/>
                </a:solidFill>
                <a:latin typeface="Calibri"/>
              </a:rPr>
              <a:t>PaymentProvider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221992"/>
            <a:ext cx="1883664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F7F75"/>
                </a:solidFill>
                <a:latin typeface="Calibri"/>
              </a:rPr>
              <a:t>(interface)</a:t>
            </a:r>
          </a:p>
        </p:txBody>
      </p:sp>
      <p:sp>
        <p:nvSpPr>
          <p:cNvPr id="17" name="Oval 16"/>
          <p:cNvSpPr/>
          <p:nvPr/>
        </p:nvSpPr>
        <p:spPr>
          <a:xfrm>
            <a:off x="4494276" y="3040379"/>
            <a:ext cx="100584" cy="100584"/>
          </a:xfrm>
          <a:prstGeom prst="ellipse">
            <a:avLst/>
          </a:prstGeom>
          <a:solidFill>
            <a:srgbClr val="0F7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44568" y="2798064"/>
            <a:ext cx="0" cy="292608"/>
          </a:xfrm>
          <a:prstGeom prst="line">
            <a:avLst/>
          </a:prstGeom>
          <a:ln w="22860">
            <a:solidFill>
              <a:srgbClr val="0F7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591056" y="3090672"/>
            <a:ext cx="2953512" cy="292608"/>
          </a:xfrm>
          <a:prstGeom prst="line">
            <a:avLst/>
          </a:prstGeom>
          <a:ln w="17780">
            <a:solidFill>
              <a:srgbClr val="5D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9536" y="3383280"/>
            <a:ext cx="1463040" cy="82296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493008"/>
            <a:ext cx="1389888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2000"/>
              </a:lnSpc>
            </a:pPr>
            <a:r>
              <a:rPr sz="1350" b="1" i="0">
                <a:solidFill>
                  <a:srgbClr val="0B1F33"/>
                </a:solidFill>
                <a:latin typeface="Calibri"/>
              </a:rPr>
              <a:t>Razorpay
Adapter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29584" y="3090672"/>
            <a:ext cx="1014984" cy="292608"/>
          </a:xfrm>
          <a:prstGeom prst="line">
            <a:avLst/>
          </a:prstGeom>
          <a:ln w="17780">
            <a:solidFill>
              <a:srgbClr val="5D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98064" y="3383280"/>
            <a:ext cx="1463040" cy="82296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3493008"/>
            <a:ext cx="1389888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2000"/>
              </a:lnSpc>
            </a:pPr>
            <a:r>
              <a:rPr sz="1350" b="1" i="0">
                <a:solidFill>
                  <a:srgbClr val="0B1F33"/>
                </a:solidFill>
                <a:latin typeface="Calibri"/>
              </a:rPr>
              <a:t>Stripe
Adapter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44568" y="3090672"/>
            <a:ext cx="932688" cy="292608"/>
          </a:xfrm>
          <a:prstGeom prst="line">
            <a:avLst/>
          </a:prstGeom>
          <a:ln w="17780">
            <a:solidFill>
              <a:srgbClr val="5D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36592" y="3383280"/>
            <a:ext cx="1481328" cy="822960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3493008"/>
            <a:ext cx="1408176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2000"/>
              </a:lnSpc>
            </a:pPr>
            <a:r>
              <a:rPr sz="1350" b="1" i="0">
                <a:solidFill>
                  <a:srgbClr val="0B1F33"/>
                </a:solidFill>
                <a:latin typeface="Calibri"/>
              </a:rPr>
              <a:t>ResilientProvider
(breaker + retry)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4370832"/>
            <a:ext cx="6053328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F7F75"/>
                </a:solidFill>
                <a:latin typeface="Calibri"/>
              </a:rPr>
              <a:t>depends on abstraction (DIP)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1207008"/>
            <a:ext cx="404164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1207008"/>
            <a:ext cx="404164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1426464"/>
            <a:ext cx="35204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46B08"/>
                </a:solidFill>
                <a:latin typeface="Calibri"/>
              </a:rPr>
              <a:t>SOLID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1764792"/>
            <a:ext cx="3493008" cy="7132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82B3D"/>
                </a:solidFill>
                <a:latin typeface="Calibri"/>
              </a:rPr>
              <a:t>SRP, OCP, LSP, ISP, DIP applied across Inventory, Payment, Order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3090672"/>
            <a:ext cx="4041648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3090672"/>
            <a:ext cx="4041648" cy="7315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4112" y="3273552"/>
            <a:ext cx="342900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F33"/>
                </a:solidFill>
                <a:latin typeface="Calibri"/>
              </a:rPr>
              <a:t>PATTERN CHIPS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54112" y="3639312"/>
            <a:ext cx="950976" cy="438912"/>
          </a:xfrm>
          <a:prstGeom prst="roundRect">
            <a:avLst/>
          </a:prstGeom>
          <a:solidFill>
            <a:srgbClr val="E6FAF7"/>
          </a:solidFill>
          <a:ln w="1143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81544" y="3685032"/>
            <a:ext cx="896112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0000"/>
              </a:lnSpc>
            </a:pPr>
            <a:r>
              <a:rPr sz="1220" b="1" i="0">
                <a:solidFill>
                  <a:srgbClr val="0B1F33"/>
                </a:solidFill>
                <a:latin typeface="Calibri"/>
              </a:rPr>
              <a:t>Strategy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50224" y="3639312"/>
            <a:ext cx="914400" cy="438912"/>
          </a:xfrm>
          <a:prstGeom prst="roundRect">
            <a:avLst/>
          </a:prstGeom>
          <a:solidFill>
            <a:srgbClr val="EDF3F8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7656" y="3685032"/>
            <a:ext cx="85953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0000"/>
              </a:lnSpc>
            </a:pPr>
            <a:r>
              <a:rPr sz="1220" b="1" i="0">
                <a:solidFill>
                  <a:srgbClr val="0B1F33"/>
                </a:solidFill>
                <a:latin typeface="Calibri"/>
              </a:rPr>
              <a:t>Factory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46336" y="3639312"/>
            <a:ext cx="777240" cy="438912"/>
          </a:xfrm>
          <a:prstGeom prst="roundRect">
            <a:avLst/>
          </a:prstGeom>
          <a:solidFill>
            <a:srgbClr val="EDF3F8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73768" y="3685032"/>
            <a:ext cx="72237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0000"/>
              </a:lnSpc>
            </a:pPr>
            <a:r>
              <a:rPr sz="1220" b="1" i="0">
                <a:solidFill>
                  <a:srgbClr val="0B1F33"/>
                </a:solidFill>
                <a:latin typeface="Calibri"/>
              </a:rPr>
              <a:t>State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3639312"/>
            <a:ext cx="914400" cy="438912"/>
          </a:xfrm>
          <a:prstGeom prst="roundRect">
            <a:avLst/>
          </a:prstGeom>
          <a:solidFill>
            <a:srgbClr val="EDF3F8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3685032"/>
            <a:ext cx="85953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0000"/>
              </a:lnSpc>
            </a:pPr>
            <a:r>
              <a:rPr sz="1220" b="1" i="0">
                <a:solidFill>
                  <a:srgbClr val="0B1F33"/>
                </a:solidFill>
                <a:latin typeface="Calibri"/>
              </a:rPr>
              <a:t>Observer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54112" y="4242816"/>
            <a:ext cx="850392" cy="438912"/>
          </a:xfrm>
          <a:prstGeom prst="roundRect">
            <a:avLst/>
          </a:prstGeom>
          <a:solidFill>
            <a:srgbClr val="E6FAF7"/>
          </a:solidFill>
          <a:ln w="1143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81544" y="4288536"/>
            <a:ext cx="79552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0000"/>
              </a:lnSpc>
            </a:pPr>
            <a:r>
              <a:rPr sz="1220" b="1" i="0">
                <a:solidFill>
                  <a:srgbClr val="0B1F33"/>
                </a:solidFill>
                <a:latin typeface="Calibri"/>
              </a:rPr>
              <a:t>Adapter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96528" y="4242816"/>
            <a:ext cx="841248" cy="438912"/>
          </a:xfrm>
          <a:prstGeom prst="roundRect">
            <a:avLst/>
          </a:prstGeom>
          <a:solidFill>
            <a:srgbClr val="EDF3F8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4288536"/>
            <a:ext cx="786384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0000"/>
              </a:lnSpc>
            </a:pPr>
            <a:r>
              <a:rPr sz="1220" b="1" i="0">
                <a:solidFill>
                  <a:srgbClr val="0B1F33"/>
                </a:solidFill>
                <a:latin typeface="Calibri"/>
              </a:rPr>
              <a:t>Facade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54112" y="4242816"/>
            <a:ext cx="1170432" cy="438912"/>
          </a:xfrm>
          <a:prstGeom prst="roundRect">
            <a:avLst/>
          </a:prstGeom>
          <a:solidFill>
            <a:srgbClr val="EDF3F8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81544" y="4288536"/>
            <a:ext cx="1115568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90000"/>
              </a:lnSpc>
            </a:pPr>
            <a:r>
              <a:rPr sz="1220" b="1" i="0">
                <a:solidFill>
                  <a:srgbClr val="0B1F33"/>
                </a:solidFill>
                <a:latin typeface="Calibri"/>
              </a:rPr>
              <a:t>Circuit
Breaker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" y="5303520"/>
            <a:ext cx="11009376" cy="7680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5495544"/>
            <a:ext cx="10497312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4B8A6"/>
                </a:solidFill>
                <a:latin typeface="Calibri"/>
              </a:rPr>
              <a:t>Design intent: </a:t>
            </a:r>
            <a:r>
              <a:rPr sz="1450" b="0">
                <a:solidFill>
                  <a:srgbClr val="FFFFFF"/>
                </a:solidFill>
                <a:latin typeface="Calibri"/>
              </a:rPr>
              <a:t>isolate provider change, survive provider failure, and keep payment orchestration explicit.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56032"/>
            <a:ext cx="457200" cy="27432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6032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6510528"/>
            <a:ext cx="50292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D6B7A"/>
                </a:solidFill>
                <a:latin typeface="Calibri"/>
              </a:rPr>
              <a:t>SALESTORM | SYSCRAFTERS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37376"/>
            <a:ext cx="11640312" cy="137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38328"/>
            <a:ext cx="54864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"/>
            <a:ext cx="1083564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0B1F33"/>
                </a:solidFill>
                <a:latin typeface="Calibri"/>
              </a:rPr>
              <a:t>SCALABILITY, RELIABILITY AND TRADE-OFFS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25296"/>
            <a:ext cx="3429000" cy="4261104"/>
          </a:xfrm>
          <a:prstGeom prst="roundRect">
            <a:avLst>
              <a:gd name="adj" fmla="val 8000"/>
            </a:avLst>
          </a:prstGeom>
          <a:solidFill>
            <a:srgbClr val="E6FAF7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225296"/>
            <a:ext cx="342900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154533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499616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7F75"/>
                </a:solidFill>
                <a:latin typeface="Calibri"/>
              </a:rPr>
              <a:t>50x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313432"/>
            <a:ext cx="2889504" cy="2670048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Pre-warm CDN, pre-scale pods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Tighter waiting room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14B8A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DB still sees only ~100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1225296"/>
            <a:ext cx="3429000" cy="4261104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8" y="1225296"/>
            <a:ext cx="3429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25696" y="1545336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499616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46B08"/>
                </a:solidFill>
                <a:latin typeface="Calibri"/>
              </a:rPr>
              <a:t>Failure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313432"/>
            <a:ext cx="2889504" cy="2670048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Redis down: pause buys, rebuild from DB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Postgres down: promote sync replica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F59E0B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Gateway down: breaker, fail fast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27264" y="1225296"/>
            <a:ext cx="3429000" cy="4261104"/>
          </a:xfrm>
          <a:prstGeom prst="roundRect">
            <a:avLst>
              <a:gd name="adj" fmla="val 8000"/>
            </a:avLst>
          </a:prstGeom>
          <a:solidFill>
            <a:srgbClr val="FEF0F0"/>
          </a:solidFill>
          <a:ln w="1143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1225296"/>
            <a:ext cx="34290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74152" y="1545336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1499616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8F1D1D"/>
                </a:solidFill>
                <a:latin typeface="Calibri"/>
              </a:rPr>
              <a:t>Sacrifices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4" y="2313432"/>
            <a:ext cx="2889504" cy="2670048"/>
          </a:xfrm>
          <a:prstGeom prst="rect">
            <a:avLst/>
          </a:prstGeom>
          <a:noFill/>
        </p:spPr>
        <p:txBody>
          <a:bodyPr wrap="square" anchor="t" lIns="128016" rIns="128016" tIns="73152" bIns="73152"/>
          <a:lstStyle/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DC262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Two stores to reconcile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DC262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Order consistency is eventual</a:t>
            </a:r>
          </a:p>
          <a:p>
            <a:pPr algn="l">
              <a:lnSpc>
                <a:spcPct val="106000"/>
              </a:lnSpc>
              <a:spcAft>
                <a:spcPts val="1300"/>
              </a:spcAft>
            </a:pPr>
            <a:r>
              <a:rPr sz="1450" b="1">
                <a:solidFill>
                  <a:srgbClr val="DC2626"/>
                </a:solidFill>
                <a:latin typeface="Calibri"/>
              </a:rPr>
              <a:t>• </a:t>
            </a:r>
            <a:r>
              <a:rPr sz="1450" b="0">
                <a:solidFill>
                  <a:srgbClr val="182B3D"/>
                </a:solidFill>
                <a:latin typeface="Calibri"/>
              </a:rPr>
              <a:t>Single-region buy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5705856"/>
            <a:ext cx="11009376" cy="530352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815584"/>
            <a:ext cx="10497312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14B8A6"/>
                </a:solidFill>
                <a:latin typeface="Calibri"/>
              </a:rPr>
              <a:t>Observability: </a:t>
            </a:r>
            <a:r>
              <a:rPr sz="1420" b="0">
                <a:solidFill>
                  <a:srgbClr val="FFFFFF"/>
                </a:solidFill>
                <a:latin typeface="Calibri"/>
              </a:rPr>
              <a:t>inventory-mismatch (page), payment UNKNOWN, consumer lag, trace_id end to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SALESTORM — Flash-sale architecture</dc:title>
  <dc:subject>System design hackathon pitch</dc:subject>
  <dc:creator>SysCrafters 2026</dc:creator>
  <cp:keywords>SALESTORM, system design, flash sale, idempotency, reliability</cp:keywords>
  <dc:description>Exactly 7 slides; 16:9; dark navy, teal and amber.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